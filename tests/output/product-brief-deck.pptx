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12.0</c:v>
                </c:pt>
                <c:pt idx="1">
                  <c:v>19.0</c:v>
                </c:pt>
                <c:pt idx="2">
                  <c:v>27.0</c:v>
                </c:pt>
                <c:pt idx="3">
                  <c:v>38.0</c:v>
                </c:pt>
                <c:pt idx="4">
                  <c:v>52.0</c:v>
                </c:pt>
                <c:pt idx="5">
                  <c:v>74.0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</a:rPr>
              <a:t>Atlas Product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Launch readiness review</a:t>
            </a:r>
          </a:p>
          <a:p>
            <a:r>
              <a:rPr b="0" i="0" sz="1200">
                <a:solidFill>
                  <a:srgbClr val="718096"/>
                </a:solidFill>
              </a:rPr>
              <a:t>Product Team — October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b="0" i="0" sz="1600">
                <a:solidFill>
                  <a:srgbClr val="4A5568"/>
                </a:solidFill>
              </a:rPr>
              <a:t>The Problem</a:t>
            </a:r>
          </a:p>
          <a:p>
            <a:pPr>
              <a:spcAft>
                <a:spcPts val="600"/>
              </a:spcAft>
            </a:pPr>
            <a:r>
              <a:rPr b="0" i="0" sz="1600">
                <a:solidFill>
                  <a:srgbClr val="4A5568"/>
                </a:solidFill>
              </a:rPr>
              <a:t>Metrics That Matter</a:t>
            </a:r>
          </a:p>
          <a:p>
            <a:pPr>
              <a:spcAft>
                <a:spcPts val="600"/>
              </a:spcAft>
            </a:pPr>
            <a:r>
              <a:rPr b="0" i="0" sz="1600">
                <a:solidFill>
                  <a:srgbClr val="4A5568"/>
                </a:solidFill>
              </a:rPr>
              <a:t>Adoption Trend</a:t>
            </a:r>
          </a:p>
          <a:p>
            <a:pPr>
              <a:spcAft>
                <a:spcPts val="600"/>
              </a:spcAft>
            </a:pPr>
            <a:r>
              <a:rPr b="0" i="0" sz="1600">
                <a:solidFill>
                  <a:srgbClr val="4A5568"/>
                </a:solidFill>
              </a:rPr>
              <a:t>Pricing</a:t>
            </a:r>
          </a:p>
          <a:p>
            <a:pPr>
              <a:spcAft>
                <a:spcPts val="600"/>
              </a:spcAft>
            </a:pPr>
            <a:r>
              <a:rPr b="0" i="0" sz="1600">
                <a:solidFill>
                  <a:srgbClr val="4A5568"/>
                </a:solidFill>
              </a:rPr>
              <a:t>Launch Checklist</a:t>
            </a:r>
          </a:p>
          <a:p>
            <a:pPr>
              <a:spcAft>
                <a:spcPts val="600"/>
              </a:spcAft>
            </a:pPr>
            <a:r>
              <a:rPr b="0" i="0" sz="1600">
                <a:solidFill>
                  <a:srgbClr val="4A5568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Atlas —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b="0" i="0" sz="1400">
                <a:solidFill>
                  <a:srgbClr val="4A5568"/>
                </a:solidFill>
              </a:rPr>
              <a:t>Support teams juggle </a:t>
            </a:r>
            <a:r>
              <a:rPr b="1" i="0" sz="1400">
                <a:solidFill>
                  <a:srgbClr val="4A5568"/>
                </a:solidFill>
              </a:rPr>
              <a:t>six tools per ticket</a:t>
            </a:r>
            <a:r>
              <a:rPr b="0" i="0" sz="1400">
                <a:solidFill>
                  <a:srgbClr val="4A5568"/>
                </a:solidFill>
              </a:rPr>
              <a:t> and context is lost at every handoff.</a:t>
            </a:r>
          </a:p>
          <a:p>
            <a:pPr>
              <a:spcAft>
                <a:spcPts val="400"/>
              </a:spcAft>
            </a:pPr>
            <a:r>
              <a:rPr b="0" i="0" sz="1400">
                <a:solidFill>
                  <a:srgbClr val="4A5568"/>
                </a:solidFill>
              </a:rPr>
              <a:t>Average handle time up 22% in two quarters</a:t>
            </a:r>
          </a:p>
          <a:p>
            <a:pPr>
              <a:spcAft>
                <a:spcPts val="400"/>
              </a:spcAft>
            </a:pPr>
            <a:r>
              <a:rPr b="0" i="0" sz="1400">
                <a:solidFill>
                  <a:srgbClr val="4A5568"/>
                </a:solidFill>
              </a:rPr>
              <a:t>Managers cannot see workload in real time</a:t>
            </a:r>
          </a:p>
          <a:p>
            <a:pPr>
              <a:spcAft>
                <a:spcPts val="400"/>
              </a:spcAft>
            </a:pPr>
            <a:r>
              <a:rPr b="0" i="0" sz="1400">
                <a:solidFill>
                  <a:srgbClr val="4A5568"/>
                </a:solidFill>
              </a:rPr>
              <a:t>New hires take 8 weeks to reach full productivity</a:t>
            </a:r>
          </a:p>
          <a:p>
            <a:pPr>
              <a:spcBef>
                <a:spcPts val="800"/>
              </a:spcBef>
              <a:spcAft>
                <a:spcPts val="800"/>
              </a:spcAft>
              <a:buNone/>
            </a:pPr>
            <a:r>
              <a:rPr b="1" i="0" sz="1300">
                <a:solidFill>
                  <a:srgbClr val="742A2A"/>
                </a:solidFill>
              </a:rPr>
              <a:t>Danger: </a:t>
            </a:r>
            <a:r>
              <a:rPr b="0" i="1" sz="1300">
                <a:solidFill>
                  <a:srgbClr val="742A2A"/>
                </a:solidFill>
              </a:rPr>
              <a:t>CSAT has fallen for three consecutive quarters.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Atlas —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</a:rPr>
              <a:t>Metrics That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Atlas —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</a:rPr>
              <a:t>Pilot results after 60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351525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400">
                <a:solidFill>
                  <a:srgbClr val="7C3AED"/>
                </a:solidFill>
              </a:rPr>
              <a:t>-31%</a:t>
            </a:r>
          </a:p>
          <a:p>
            <a:pPr algn="ctr"/>
            <a:r>
              <a:rPr b="0" i="0" sz="1300">
                <a:solidFill>
                  <a:srgbClr val="718096"/>
                </a:solidFill>
              </a:rPr>
              <a:t>Handle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8218" y="2194560"/>
            <a:ext cx="351525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400">
                <a:solidFill>
                  <a:srgbClr val="7C3AED"/>
                </a:solidFill>
              </a:rPr>
              <a:t>78%</a:t>
            </a:r>
          </a:p>
          <a:p>
            <a:pPr algn="ctr"/>
            <a:r>
              <a:rPr b="0" i="0" sz="1300">
                <a:solidFill>
                  <a:srgbClr val="718096"/>
                </a:solidFill>
              </a:rPr>
              <a:t>First-contact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53476" y="2194560"/>
            <a:ext cx="351525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400">
                <a:solidFill>
                  <a:srgbClr val="7C3AED"/>
                </a:solidFill>
              </a:rPr>
              <a:t>4.7/5</a:t>
            </a:r>
          </a:p>
          <a:p>
            <a:pPr algn="ctr"/>
            <a:r>
              <a:rPr b="0" i="0" sz="1300">
                <a:solidFill>
                  <a:srgbClr val="718096"/>
                </a:solidFill>
              </a:rPr>
              <a:t>CSAT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Atlas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</a:rPr>
              <a:t>Adoption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Atlas —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</a:rPr>
              <a:t>Weekly active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37360"/>
          <a:ext cx="10545775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Atlas —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</a:rPr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Atlas —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</a:rPr>
              <a:t>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91153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4114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Seats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Price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Starter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up to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$29/seat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Growth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up to 50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$24/seat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unlimited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8"/>
                          </a:solidFill>
                        </a:rPr>
                        <a:t>custom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Atlas —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</a:rPr>
              <a:t>Launch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</a:pPr>
            <a:r>
              <a:rPr b="0" i="0" sz="1400">
                <a:solidFill>
                  <a:srgbClr val="4A5568"/>
                </a:solidFill>
              </a:rPr>
              <a:t>1.  Finalize SOC 2 report</a:t>
            </a:r>
          </a:p>
          <a:p>
            <a:pPr>
              <a:spcAft>
                <a:spcPts val="400"/>
              </a:spcAft>
              <a:buNone/>
            </a:pPr>
            <a:r>
              <a:rPr b="0" i="0" sz="1400">
                <a:solidFill>
                  <a:srgbClr val="4A5568"/>
                </a:solidFill>
              </a:rPr>
              <a:t>2.  Ship pricing page</a:t>
            </a:r>
          </a:p>
          <a:p>
            <a:pPr>
              <a:spcAft>
                <a:spcPts val="400"/>
              </a:spcAft>
              <a:buNone/>
            </a:pPr>
            <a:r>
              <a:rPr b="0" i="0" sz="1400">
                <a:solidFill>
                  <a:srgbClr val="4A5568"/>
                </a:solidFill>
              </a:rPr>
              <a:t>3.  Brief support enablement</a:t>
            </a:r>
          </a:p>
          <a:p>
            <a:pPr>
              <a:spcAft>
                <a:spcPts val="400"/>
              </a:spcAft>
              <a:buNone/>
            </a:pPr>
            <a:r>
              <a:rPr b="0" i="0" sz="1400">
                <a:solidFill>
                  <a:srgbClr val="4A5568"/>
                </a:solidFill>
              </a:rPr>
              <a:t>4.  Set launch date</a:t>
            </a:r>
          </a:p>
          <a:p>
            <a:pPr>
              <a:buNone/>
            </a:pPr>
            <a:r>
              <a:rPr b="0" i="1" sz="1600">
                <a:solidFill>
                  <a:srgbClr val="2D3748"/>
                </a:solidFill>
              </a:rPr>
              <a:t>“Ship the smallest thing that changes the metric.”</a:t>
            </a:r>
          </a:p>
          <a:p>
            <a:pPr>
              <a:buNone/>
            </a:pPr>
            <a:r>
              <a:rPr b="0" i="0" sz="1100">
                <a:solidFill>
                  <a:srgbClr val="718096"/>
                </a:solidFill>
              </a:rPr>
              <a:t>— Atlas team principle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Atlas —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Atlas —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900">
                <a:solidFill>
                  <a:srgbClr val="718096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Product Brief</dc:title>
  <dc:subject/>
  <dc:creator>Product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